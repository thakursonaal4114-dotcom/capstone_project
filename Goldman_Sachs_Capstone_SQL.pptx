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aal thakur" initials="st" lastIdx="1" clrIdx="0">
    <p:extLst>
      <p:ext uri="{19B8F6BF-5375-455C-9EA6-DF929625EA0E}">
        <p15:presenceInfo xmlns:p15="http://schemas.microsoft.com/office/powerpoint/2012/main" userId="dd35a10a7e756e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nera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2"/>
            <a:ext cx="12191999" cy="6861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900" b="1">
                <a:solidFill>
                  <a:srgbClr val="F2BE56"/>
                </a:solidFill>
                <a:latin typeface="Aptos"/>
              </a:rPr>
              <a:t>Company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400" b="0">
                <a:solidFill>
                  <a:srgbClr val="97B7D3"/>
                </a:solidFill>
                <a:latin typeface="Aptos"/>
              </a:rPr>
              <a:t>Goldman Sachs Consumer Finance | From institutional finance to digital consumer lending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43584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43584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07592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WALL STREET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Founded in 1869, Goldman Sachs built a long-standing business serving institutions, corporations and high-net-worth clients.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43584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43584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307592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REGULATORY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After the 2008 financial crisis, Goldman Sachs became a bank holding company, enabling it to accept retail deposits.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231136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231136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2295144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THE RETAIL 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15768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Marcus launched in 2016 as a digital consumer-finance business intended to diversify revenue beyond trading and investment banking.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31136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231136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295144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DIGITAL-FIRST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15768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A branchless model reduced reliance on physical branches and supported online savings accounts and personal loans.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218688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218688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3282696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INITIAL OFFERINGS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03320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Marcus offered high-yield savings accounts and fixed-rate personal loans with no origination fees.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18688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218688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3282696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ECOSYSTEM PARTNERSHIPS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Goldman Sachs partnered with Apple to launch Apple Card in 2019, expanding its reach through embedded finance.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206240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420624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" y="427024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PORTFOLIO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690872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The firm acquired GreenSky and issued co-branded credit cards, including a partnership with General Motors.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06240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20624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427024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INTERNAL RESTRUCTURING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690872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Consumer activities were grouped within Platform Solutions as Goldman Sachs reassessed the economics and risks of consumer finance.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193792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" y="5193792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" y="5257800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FINANCIAL HURDLES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678424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Elevated operating costs, loan-loss provisions and consumer credit exposure pressured the economics of the retail expansion.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93792"/>
            <a:ext cx="5440680" cy="85953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5193792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2512" y="5257800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STRATEGIC REALIGNMENT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678424"/>
            <a:ext cx="5074920" cy="292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919" b="0">
                <a:solidFill>
                  <a:srgbClr val="1A2634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Goldman Sachs subsequently moved away from much of its retail-lending strategy, including the sale of GreenSky and an announced transfer of the Apple Card portfolio to JPMorgan Chase.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900" b="1">
                <a:solidFill>
                  <a:srgbClr val="F2BE56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400" b="0">
                <a:solidFill>
                  <a:srgbClr val="97B7D3"/>
                </a:solidFill>
                <a:latin typeface="Aptos"/>
              </a:rPr>
              <a:t>Translate loan-level data into evidence-led decisions for lending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440680" cy="11612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48132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01  CUSTOMER &amp;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901952"/>
            <a:ext cx="507492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1A2634"/>
                </a:solidFill>
                <a:latin typeface="Aptos"/>
              </a:defRPr>
            </a:pPr>
            <a:r>
              <a:rPr lang="en-US" sz="1400" dirty="0">
                <a:highlight>
                  <a:srgbClr val="FFFF00"/>
                </a:highlight>
              </a:rPr>
              <a:t>Customer &amp; Region: Analyze regional customer distribution; South leads with 97,683 customers</a:t>
            </a:r>
            <a:endParaRPr sz="16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440680" cy="11612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48132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02  APPROVAL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01952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Approval Efficiency: Assess approval rates, but approved/rejected statuses are unavailable</a:t>
            </a:r>
            <a:endParaRPr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2834640"/>
            <a:ext cx="5440680" cy="11612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83464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89864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03  CREDIT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319272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Credit Risk: Identify 548 high-risk loans using grade, income, and loan amount</a:t>
            </a:r>
            <a:endParaRPr sz="16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2834640"/>
            <a:ext cx="5440680" cy="11612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289864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04  PORTFOLIO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19272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Portfolio Growth: Loans increased from 2,594 in 2012 to 43,368 in 2016</a:t>
            </a:r>
            <a:endParaRPr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5440680" cy="11612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25196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" y="431596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05  PRICING &amp; PURPOSE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736592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Pricing &amp; Purpose: Debt consolidation leads with 152,285 loans and a 7.34% charged-off/default rate</a:t>
            </a:r>
            <a:endParaRPr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63640" y="4251960"/>
            <a:ext cx="5440680" cy="11612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251960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4315968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06  REPAYMENT 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36592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Repayment Health: Monitor late and charged-off loans; individual missed-payment histories are unavailable</a:t>
            </a:r>
            <a:endParaRPr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86968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 dirty="0">
                <a:solidFill>
                  <a:srgbClr val="F2BE56"/>
                </a:solidFill>
                <a:latin typeface="Aptos"/>
              </a:rPr>
              <a:t>SQL Analysis 01  |  Regional Customer &amp; Credit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5132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 dirty="0">
                <a:solidFill>
                  <a:srgbClr val="97B7D3"/>
                </a:solidFill>
                <a:latin typeface="Aptos"/>
              </a:rPr>
              <a:t>Retrieve the number of unique customers by region.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729" y="950976"/>
            <a:ext cx="5848903" cy="3593593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16128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211579"/>
            <a:ext cx="55961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rPr dirty="0"/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 dirty="0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FDD1D84-4578-37A9-E3BA-0A3325C2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887" y="1632203"/>
            <a:ext cx="3116769" cy="27249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1F54B72-796E-7FC2-855E-890A7B79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03" y="2139696"/>
            <a:ext cx="5059185" cy="164592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5B3FA93-BB25-9EB7-B09D-B1AF946DF398}"/>
              </a:ext>
            </a:extLst>
          </p:cNvPr>
          <p:cNvSpPr txBox="1"/>
          <p:nvPr/>
        </p:nvSpPr>
        <p:spPr>
          <a:xfrm>
            <a:off x="603504" y="5093208"/>
            <a:ext cx="107167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00"/>
                </a:highlight>
              </a:rPr>
              <a:t>Observation: The South has the largest customer base (97,683), followed by the West (69,137), Northeast (55,014), and Midwest (48,465).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00"/>
                </a:highlight>
              </a:rPr>
              <a:t>Business Insight: The South is a potential target for expansion due to its larger customer base. Average credit scores cannot be compared because the dataset lacks a credit-score column; loan grades can be used as a risk indicator.</a:t>
            </a:r>
          </a:p>
          <a:p>
            <a:endParaRPr lang="en-IN" dirty="0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70A637-D331-A5A8-3887-ED6F3E17BA1F}"/>
              </a:ext>
            </a:extLst>
          </p:cNvPr>
          <p:cNvCxnSpPr>
            <a:cxnSpLocks/>
          </p:cNvCxnSpPr>
          <p:nvPr/>
        </p:nvCxnSpPr>
        <p:spPr>
          <a:xfrm>
            <a:off x="5297676" y="2922055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02  |  Loan Approval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Calculate the percentage of approved loans out of total applications.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28511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109959" cy="178308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highlight>
                <a:srgbClr val="FFFF00"/>
              </a:highligh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E0564AF-933A-183A-2893-50642D92D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962" y="1669333"/>
            <a:ext cx="3812126" cy="15819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991DBB-5997-999C-A737-E6E034B93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52" y="1847088"/>
            <a:ext cx="2538328" cy="26066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A974AB-DCF9-DED8-5B11-8974CC05A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726" y="3552215"/>
            <a:ext cx="4061279" cy="832562"/>
          </a:xfrm>
          <a:prstGeom prst="rect">
            <a:avLst/>
          </a:prstGeom>
        </p:spPr>
      </p:pic>
      <p:sp>
        <p:nvSpPr>
          <p:cNvPr id="36" name="Rectangle 5">
            <a:extLst>
              <a:ext uri="{FF2B5EF4-FFF2-40B4-BE49-F238E27FC236}">
                <a16:creationId xmlns:a16="http://schemas.microsoft.com/office/drawing/2014/main" id="{6C646442-6C57-DEE8-343D-75411F4F5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1" y="5172667"/>
            <a:ext cx="108691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Out of 270,299 total loans, 17,851 were charged off, representing 6.60% of the loan portfolio.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The 6.60% charged-off rate highlights potential credit-risk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Global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FinBank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should strengthen borrower risk assessment and monitor loan performance to reduce future losses.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The actual loan approval rate cannot be calculated because approved and rejected application statuses are unavailable.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6AAB6CA-178E-DE72-65CA-3D4481849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276" y="1847089"/>
            <a:ext cx="2365943" cy="2560614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289C10-696B-B9A4-D48A-106D29857620}"/>
              </a:ext>
            </a:extLst>
          </p:cNvPr>
          <p:cNvCxnSpPr>
            <a:cxnSpLocks/>
          </p:cNvCxnSpPr>
          <p:nvPr/>
        </p:nvCxnSpPr>
        <p:spPr>
          <a:xfrm>
            <a:off x="5426446" y="2922056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03  |  High-Risk Loan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Flag applications with low credit scores, lower income and higher loan amounts.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B42182-9F1F-138C-AF02-326B2A26A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03" y="1733400"/>
            <a:ext cx="1947381" cy="82748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5EAAC5-58A5-5FC2-835E-400183A0D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50" y="2560889"/>
            <a:ext cx="1946334" cy="10281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C3746D-58D3-3AF1-7FDF-FD3CD3686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72" y="3589026"/>
            <a:ext cx="1931911" cy="675188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586997-228A-34D2-7A85-9D57542CC576}"/>
              </a:ext>
            </a:extLst>
          </p:cNvPr>
          <p:cNvCxnSpPr>
            <a:cxnSpLocks/>
          </p:cNvCxnSpPr>
          <p:nvPr/>
        </p:nvCxnSpPr>
        <p:spPr>
          <a:xfrm>
            <a:off x="3054096" y="2846641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F1C34DD8-D802-28AC-0A83-853996AA7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603" y="1792224"/>
            <a:ext cx="5065194" cy="15361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9309EBA-FDE7-D87B-A4A7-33EC6D6F73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6991" y="1721342"/>
            <a:ext cx="1724887" cy="25306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8E93C7E-6250-D84E-BD2D-784A91E6E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2735" y="3373193"/>
            <a:ext cx="2720576" cy="998307"/>
          </a:xfrm>
          <a:prstGeom prst="rect">
            <a:avLst/>
          </a:prstGeom>
        </p:spPr>
      </p:pic>
      <p:sp>
        <p:nvSpPr>
          <p:cNvPr id="45" name="Rectangle 2">
            <a:extLst>
              <a:ext uri="{FF2B5EF4-FFF2-40B4-BE49-F238E27FC236}">
                <a16:creationId xmlns:a16="http://schemas.microsoft.com/office/drawing/2014/main" id="{75D7C8E1-93B3-E4E5-1C8A-964165F10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5148904"/>
            <a:ext cx="1080820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Out of 270,299 loans, 251,659 (93.10%) were classified as Lower Flagged Risk, 18,092 (6.69%) as Elevated Risk, and 548 (0.20%) as High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The 548 High Risk loans meet all three selected criteria: grades E–G, annual income below $50,000, and loan amounts of at least $20,000. These borrowers may require closer monitoring to reduce potential credit losses.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04  |  State Approval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Find the top five states by loan approval rate and compare their average approved loan amounts.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4F6D46-0F9B-42AB-59E0-25227124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97" y="1808818"/>
            <a:ext cx="4566389" cy="25237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46B8C14-6878-0FBF-9531-E16B7AD4A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808818"/>
            <a:ext cx="4222643" cy="2544772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273ACE3D-877E-C63F-150A-BC17F906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8" y="5191689"/>
            <a:ext cx="108356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California leads with 37,024 loans and an average loan amount of $15,748.85, followed by Texas (22,541), New York (21,854), Florida (19,846), and Illinois (10,845).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California has the highest loan volume among the top five states, making it a key market for lending operations. Average loan amounts range from $14,977.23 in Florida to $16,049.23 in Texas, indicating differences in borrowing patterns across states.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BFF75B-C8CB-DC20-E1B3-70F802CF21A1}"/>
              </a:ext>
            </a:extLst>
          </p:cNvPr>
          <p:cNvCxnSpPr>
            <a:cxnSpLocks/>
          </p:cNvCxnSpPr>
          <p:nvPr/>
        </p:nvCxnSpPr>
        <p:spPr>
          <a:xfrm>
            <a:off x="5559552" y="2695812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05  |  Yearly Disbursement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Analyze yearly disbursement trends and identify the fastest-growing loan categories.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FE5939-9481-7D72-1EA8-58F161AA6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64130"/>
            <a:ext cx="5108448" cy="12893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AC1DFFB-BAC0-4DE0-3CC3-87282AB0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582" y="1915505"/>
            <a:ext cx="3604572" cy="12574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85B9F2-73BC-E1E0-D50D-1D6F6719C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54096"/>
            <a:ext cx="5108448" cy="11978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D5FE5C-0331-78AC-DAE6-C01A360C0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546" y="3304884"/>
            <a:ext cx="3711262" cy="1265030"/>
          </a:xfrm>
          <a:prstGeom prst="rect">
            <a:avLst/>
          </a:prstGeom>
        </p:spPr>
      </p:pic>
      <p:sp>
        <p:nvSpPr>
          <p:cNvPr id="29" name="Rectangle 1">
            <a:extLst>
              <a:ext uri="{FF2B5EF4-FFF2-40B4-BE49-F238E27FC236}">
                <a16:creationId xmlns:a16="http://schemas.microsoft.com/office/drawing/2014/main" id="{79957664-A179-F97C-FE68-2A21727E5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20" y="5130891"/>
            <a:ext cx="112592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 In 2012, debt consolidation was the most common loan purpose, with 1,548 loans totaling $22.43 million, followed by credit card loans with 546 loans totaling $7.40 million.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 Debt consolidation dominates lending demand, followed by credit card financing. Global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FinBank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can prioritize these loan categories while monitoring their repayment performance and credit risk.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C8B825-8975-FB15-EF92-5DBDD43C589F}"/>
              </a:ext>
            </a:extLst>
          </p:cNvPr>
          <p:cNvCxnSpPr>
            <a:cxnSpLocks/>
          </p:cNvCxnSpPr>
          <p:nvPr/>
        </p:nvCxnSpPr>
        <p:spPr>
          <a:xfrm>
            <a:off x="5647598" y="3902443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B65EE-C6BA-BC14-E93A-D773BCE622A0}"/>
              </a:ext>
            </a:extLst>
          </p:cNvPr>
          <p:cNvCxnSpPr>
            <a:cxnSpLocks/>
          </p:cNvCxnSpPr>
          <p:nvPr/>
        </p:nvCxnSpPr>
        <p:spPr>
          <a:xfrm>
            <a:off x="5285232" y="2629824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9121" y="5328706"/>
            <a:ext cx="10949860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highlight>
                <a:srgbClr val="FFFF00"/>
              </a:highligh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06  |  Borrowing &amp; Repayment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Find the average number of loans per customer and summarize repayment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188F5D-57AB-254C-F651-54835565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55" y="1765835"/>
            <a:ext cx="3242632" cy="13296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E2C8C32-9F68-3538-C3CE-D04675AE1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762511"/>
            <a:ext cx="3284505" cy="7468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6F9B6DB-9792-6C7F-967D-452D685C0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17" y="3122675"/>
            <a:ext cx="3283303" cy="1288258"/>
          </a:xfrm>
          <a:prstGeom prst="rect">
            <a:avLst/>
          </a:prstGeom>
        </p:spPr>
      </p:pic>
      <p:pic>
        <p:nvPicPr>
          <p:cNvPr id="6146" name="Picture 2" descr="User attachment">
            <a:extLst>
              <a:ext uri="{FF2B5EF4-FFF2-40B4-BE49-F238E27FC236}">
                <a16:creationId xmlns:a16="http://schemas.microsoft.com/office/drawing/2014/main" id="{E5A4412F-A54C-4963-7859-6982DA8E2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293" y="2609920"/>
            <a:ext cx="32099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3">
            <a:extLst>
              <a:ext uri="{FF2B5EF4-FFF2-40B4-BE49-F238E27FC236}">
                <a16:creationId xmlns:a16="http://schemas.microsoft.com/office/drawing/2014/main" id="{1877105F-5D83-0997-4420-92C71742D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" y="5141807"/>
            <a:ext cx="109498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Current loans account for 63.06% (170,461), followed by Fully Paid loans at 28.25% (76,361). Charged Off loans represent 6.60% (17,851), while late and grace-period loans indicate additional repayment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Although most loans are current or fully paid, the 6.60% charged-off share highlights potential credit risk. Global FinBank should strengthen repayment monitoring and focus on early intervention for borrowers showing signs of delinquency.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1F5C90-2A04-19E0-7242-5A32D9F86409}"/>
              </a:ext>
            </a:extLst>
          </p:cNvPr>
          <p:cNvCxnSpPr>
            <a:cxnSpLocks/>
          </p:cNvCxnSpPr>
          <p:nvPr/>
        </p:nvCxnSpPr>
        <p:spPr>
          <a:xfrm>
            <a:off x="5888736" y="3770468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D7749E-8F27-A032-D917-1328C8ECA48A}"/>
              </a:ext>
            </a:extLst>
          </p:cNvPr>
          <p:cNvCxnSpPr>
            <a:cxnSpLocks/>
          </p:cNvCxnSpPr>
          <p:nvPr/>
        </p:nvCxnSpPr>
        <p:spPr>
          <a:xfrm>
            <a:off x="5323505" y="2158484"/>
            <a:ext cx="98755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07  |  Interest Rates by Category &amp;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Calculate average interest rates by loan category and region.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B662E5-F189-361C-E901-C9A28CE64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796378"/>
            <a:ext cx="4686693" cy="25924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CB2E6A-7C8B-E2C8-C295-D5AB2551B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23" y="2150719"/>
            <a:ext cx="5162065" cy="1770177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56962DA4-68B0-0424-629C-4C8E31281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24" y="5078474"/>
            <a:ext cx="109575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In the Midwest, wedding loans have the highest average interest rate at 19% across 10 loans, followed by renewable energy loans at 16% across 20 loans. Moving and small-business loans average 15%, while debt consolidation loans average 14% across 27,100 loans.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Higher interest rates on certain loan categories may reflect greater perceived lending risk, although the small sample sizes for wedding and renewable energy loans limit comparisons. Global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FinBank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should evaluate interest rates alongside loan performance to balance profitability and borrower affordability.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08  |  Loan Purpose &amp; Default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Identify the most common loan purposes and their associated default 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0881360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046A61-F646-6502-F833-B19DC1C0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18" y="1642474"/>
            <a:ext cx="3846171" cy="28657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81C78F-0620-68C4-D62B-1FA0253A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374751"/>
            <a:ext cx="5172960" cy="1273705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01A8E946-A319-C4AE-991E-055AC05B6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48" y="5082498"/>
            <a:ext cx="1080311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Debt consolidation is the most common loan purpose, with 152,285 loans and a 7.34% charged-off/default rate. Credit card loans follow with 64,477 loans and a 5.25% rate, while home improvement loans have a 5.79%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Debt consolidation has both the highest loan volume and the highest charged-off/default rate among the categories shown. Global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FinBank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should closely monitor this category to manage credit risk while continuing to serve strong customer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09  |  Income &amp; Approval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>
                <a:solidFill>
                  <a:srgbClr val="97B7D3"/>
                </a:solidFill>
                <a:latin typeface="Aptos"/>
              </a:rPr>
              <a:t>Analyze the relationship between income levels and loan approval 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06B33F-AD83-9C5E-5106-91FF1C255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19073"/>
            <a:ext cx="2151380" cy="12942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C1CE34-CFFB-9965-092F-017E72454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1" y="2997273"/>
            <a:ext cx="2151379" cy="14578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F823315-8166-25C3-3CD7-539CC72B8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194" y="2148386"/>
            <a:ext cx="4984746" cy="1546244"/>
          </a:xfrm>
          <a:prstGeom prst="rect">
            <a:avLst/>
          </a:prstGeom>
        </p:spPr>
      </p:pic>
      <p:sp>
        <p:nvSpPr>
          <p:cNvPr id="27" name="Rectangle 1">
            <a:extLst>
              <a:ext uri="{FF2B5EF4-FFF2-40B4-BE49-F238E27FC236}">
                <a16:creationId xmlns:a16="http://schemas.microsoft.com/office/drawing/2014/main" id="{7CA82C92-5325-F2CD-C8C5-8B7358F8E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5165298"/>
            <a:ext cx="109453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The $60K–$100K income group has the highest fully paid rate at 28.85%, followed by the $30K–$60K group at 28.68%. The below-$30K group has the lowest rate at 25.80%, while the $100K+ group records 27.27%.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Middle-income borrowers show slightly higher fully paid rates than the other income groups. Global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FinBank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should consider income alongside loan grade and loan amount when assessing lending risk. These results reflect repayment outcomes, not loan approval rates.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800" b="1">
                <a:solidFill>
                  <a:srgbClr val="F2BE56"/>
                </a:solidFill>
                <a:latin typeface="Aptos"/>
              </a:rPr>
              <a:t>SQL Analysis 10  |  Repeated Missed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600" b="1" dirty="0">
                <a:solidFill>
                  <a:srgbClr val="97B7D3"/>
                </a:solidFill>
                <a:latin typeface="Aptos"/>
              </a:rPr>
              <a:t>List customers who have missed multiple payments and may be at higher risk of default.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486400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548640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9CDC2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120640" cy="26791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019" b="0">
                <a:solidFill>
                  <a:srgbClr val="1A2634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13248" cy="3246120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5413248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62456"/>
            <a:ext cx="50840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QUERY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45952" cy="1389888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1045952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10716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KEY OBSERVATIONS &amp; BUSINESS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86EDE0D-CF8B-16E8-AF82-A3AB4E9AF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263" y="2099465"/>
            <a:ext cx="3977985" cy="12345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2D52C1-F16B-AA0E-D145-5E67F1452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58" y="1816283"/>
            <a:ext cx="2550106" cy="2481397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94656C14-663E-D19E-9F5A-422C2B19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1" y="5226278"/>
            <a:ext cx="1095928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Observation: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No customers were identified with multiple risk-flagged loan records using the available loan-status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Business Insight: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The dataset does not provide individual missed-payment histories, so customers with multiple missed payments cannot be directly identified. Global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FinBank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should monitor loans marked Late, Charged Off, or Default to identify potential credit risks.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900" b="1">
                <a:solidFill>
                  <a:srgbClr val="F2BE56"/>
                </a:solidFill>
                <a:latin typeface="Aptos"/>
              </a:rPr>
              <a:t>What the Analysis Reveals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400" b="0">
                <a:solidFill>
                  <a:srgbClr val="97B7D3"/>
                </a:solidFill>
                <a:latin typeface="Aptos"/>
              </a:rPr>
              <a:t>Synthesis framework | Replace these prompts with evidence from your actual query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353312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353312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417320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CUSTOMER &amp; REGIONAL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37943"/>
            <a:ext cx="507492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120" b="0">
                <a:solidFill>
                  <a:srgbClr val="1A2634"/>
                </a:solidFill>
                <a:latin typeface="Aptos"/>
              </a:defRPr>
            </a:pPr>
            <a:r>
              <a:rPr lang="en-US" sz="1400" dirty="0">
                <a:highlight>
                  <a:srgbClr val="FFFF00"/>
                </a:highlight>
              </a:rPr>
              <a:t>Customer &amp; Regional Mix: South leads with 97,683 customers; Northeast has the highest average income ($82,397.76)</a:t>
            </a:r>
            <a:endParaRPr sz="11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5352" y="1353312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353312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417320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APPROVAL FAIRNESS &amp;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837943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12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Approval Fairness &amp; Efficiency: Approval rate unavailable; 63.06% Current and 28.25% Fully Paid loans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" y="2843784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2843784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2907791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PORTFOLIO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328415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12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Portfolio Growth: Loans rose from 2,594 (2012) to 43,368 (2016)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45352" y="2843784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2843784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2907791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RISK CONCENTRATION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328415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12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Risk Concentration: 548 loans (0.20%) classified as high risk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1792" y="4334256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" y="4334256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4398264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PRICING &amp; PURPOSE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818888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12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Pricing &amp; Purpose: Debt consolidation leads with 152,285 loans and a 7.34% charged-off/default rate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45352" y="4334256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45352" y="4334256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4" y="4398264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DATA 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818888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12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Data Limitations: Credit scores, approval decisions, and individual missed-payment records are unavailable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41832"/>
          </a:xfrm>
          <a:prstGeom prst="rect">
            <a:avLst/>
          </a:prstGeom>
          <a:solidFill>
            <a:srgbClr val="0F1F33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900" b="1">
                <a:solidFill>
                  <a:srgbClr val="F2BE56"/>
                </a:solidFill>
                <a:latin typeface="Aptos"/>
              </a:rP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DAE2EA"/>
                </a:solidFill>
                <a:latin typeface="Aptos"/>
              </a:defRPr>
            </a:pPr>
            <a:r>
              <a:rPr sz="1400" b="0">
                <a:solidFill>
                  <a:srgbClr val="97B7D3"/>
                </a:solidFill>
                <a:latin typeface="Aptos"/>
              </a:rPr>
              <a:t>Action plan for responsible lending, portfolio performance and customer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914400" cy="41148"/>
          </a:xfrm>
          <a:prstGeom prst="rect">
            <a:avLst/>
          </a:prstGeom>
          <a:solidFill>
            <a:srgbClr val="DAA94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7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CONSUMER FINANCE LOAN ANALYTICS  |  DATA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88230"/>
                </a:solidFill>
                <a:latin typeface="Aptos"/>
              </a:defRPr>
            </a:pPr>
            <a:r>
              <a:rPr sz="1400">
                <a:solidFill>
                  <a:srgbClr val="F2F6FA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353312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353312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417320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01  RISK-BASED UNDERWRITING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37943"/>
            <a:ext cx="5074920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08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Risk-Based Underwriting: Use loan grades, income, and loan amounts; 548 loans met the selected high-risk criteria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5352" y="1353312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353312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417320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02  EARLY-WARNING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837943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08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Early-Warning Monitoring: Monitor late loans (3,976) and charged-off loans (17,851) for potential risk</a:t>
            </a:r>
            <a:endParaRPr sz="11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" y="2843784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2843784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2907791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03  STATE &amp; SEGMENT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328415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08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State &amp; Segment Review: Focus on California, with 37,024 loans, and compare regional lending patterns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45352" y="2843784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2843784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2907791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04  PORTFOLIO STEWARDSHIP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328415"/>
            <a:ext cx="507492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08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Portfolio Stewardship: Monitor debt consolidation, with 152,285 loans and a 7.34% charged-off/default rate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1792" y="4334256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" y="4334256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4398264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05  PRICING WITH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818888"/>
            <a:ext cx="5074920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080" b="0">
                <a:solidFill>
                  <a:srgbClr val="1A2634"/>
                </a:solidFill>
                <a:latin typeface="Aptos"/>
              </a:defRPr>
            </a:pPr>
            <a:r>
              <a:rPr lang="en-US" sz="1600" dirty="0">
                <a:highlight>
                  <a:srgbClr val="FFFF00"/>
                </a:highlight>
              </a:rPr>
              <a:t>Pricing with Context: Compare interest rates and repayment outcomes; Midwest wedding loans averaged 19%</a:t>
            </a:r>
            <a:endParaRPr sz="12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45352" y="4334256"/>
            <a:ext cx="5440680" cy="1225296"/>
          </a:xfrm>
          <a:prstGeom prst="roundRect">
            <a:avLst/>
          </a:prstGeom>
          <a:solidFill>
            <a:srgbClr val="0F1F33"/>
          </a:solidFill>
          <a:ln w="12700"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45352" y="4334256"/>
            <a:ext cx="5440680" cy="384048"/>
          </a:xfrm>
          <a:prstGeom prst="rect">
            <a:avLst/>
          </a:prstGeom>
          <a:solidFill>
            <a:srgbClr val="13283F"/>
          </a:solidFill>
          <a:ln>
            <a:solidFill>
              <a:srgbClr val="374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4" y="4398264"/>
            <a:ext cx="5111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1F38"/>
                </a:solidFill>
                <a:latin typeface="Aptos"/>
              </a:defRPr>
            </a:pPr>
            <a:r>
              <a:rPr sz="1500" b="1">
                <a:solidFill>
                  <a:srgbClr val="59CDC2"/>
                </a:solidFill>
                <a:latin typeface="Aptos"/>
              </a:rPr>
              <a:t>06  MODEL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818888"/>
            <a:ext cx="5074920" cy="6832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  <a:defRPr sz="1080" b="0">
                <a:solidFill>
                  <a:srgbClr val="1A2634"/>
                </a:solidFill>
                <a:latin typeface="Aptos"/>
              </a:defRPr>
            </a:pPr>
            <a:r>
              <a:rPr lang="en-US" sz="1400" dirty="0">
                <a:highlight>
                  <a:srgbClr val="FFFF00"/>
                </a:highlight>
              </a:rPr>
              <a:t>Model Governance: Validate risk thresholds against actual outcomes; credit scores and individual missed-payment records are unavailable</a:t>
            </a:r>
            <a:endParaRPr sz="1100" dirty="0">
              <a:solidFill>
                <a:srgbClr val="F2F6FA"/>
              </a:solidFill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1830</Words>
  <Application>Microsoft Office PowerPoint</Application>
  <PresentationFormat>Widescreen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Sonaal</dc:creator>
  <cp:keywords/>
  <dc:description>generated using python-pptx</dc:description>
  <cp:lastModifiedBy>sonaal thakur</cp:lastModifiedBy>
  <cp:revision>2</cp:revision>
  <dcterms:created xsi:type="dcterms:W3CDTF">2013-01-27T09:14:16Z</dcterms:created>
  <dcterms:modified xsi:type="dcterms:W3CDTF">2026-10-20T11:32:30Z</dcterms:modified>
  <cp:category/>
</cp:coreProperties>
</file>